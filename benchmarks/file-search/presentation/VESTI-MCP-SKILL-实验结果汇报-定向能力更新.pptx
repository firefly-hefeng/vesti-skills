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d1ae7be01c48ea" /><Relationship Type="http://schemas.openxmlformats.org/officeDocument/2006/relationships/extended-properties" Target="/docProps/app.xml" Id="R73990f29aa584fcd" /><Relationship Type="http://schemas.openxmlformats.org/officeDocument/2006/relationships/officeDocument" Target="/ppt/presentation.xml" Id="Raf4f33c6b23a42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3d5bbc3cc4b4c"/>
  </p:sldMasterIdLst>
  <p:notesMasterIdLst>
    <p:notesMasterId xmlns:r="http://schemas.openxmlformats.org/officeDocument/2006/relationships" r:id="R40c316b5d42e4809"/>
  </p:notesMasterIdLst>
  <p:sldIdLst>
    <p:sldId xmlns:r="http://schemas.openxmlformats.org/officeDocument/2006/relationships" id="256" r:id="R3fd7f75f9a8646b2"/>
    <p:sldId xmlns:r="http://schemas.openxmlformats.org/officeDocument/2006/relationships" id="257" r:id="R1c5af3882f264deb"/>
    <p:sldId xmlns:r="http://schemas.openxmlformats.org/officeDocument/2006/relationships" id="258" r:id="Rb89eb448fa13413c"/>
    <p:sldId xmlns:r="http://schemas.openxmlformats.org/officeDocument/2006/relationships" id="259" r:id="R53dda8e084464cea"/>
    <p:sldId xmlns:r="http://schemas.openxmlformats.org/officeDocument/2006/relationships" id="260" r:id="R83df191666dd444b"/>
    <p:sldId xmlns:r="http://schemas.openxmlformats.org/officeDocument/2006/relationships" id="261" r:id="Reeeaddad9a3f4ee1"/>
    <p:sldId xmlns:r="http://schemas.openxmlformats.org/officeDocument/2006/relationships" id="262" r:id="R3e7dec65a2a74ff8"/>
    <p:sldId xmlns:r="http://schemas.openxmlformats.org/officeDocument/2006/relationships" id="263" r:id="Ra4688853299645b3"/>
    <p:sldId xmlns:r="http://schemas.openxmlformats.org/officeDocument/2006/relationships" id="264" r:id="Rb4934fb4089a4a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41471860584bc0" /><Relationship Type="http://schemas.openxmlformats.org/officeDocument/2006/relationships/slideMaster" Target="/ppt/slideMasters/slideMaster1.xml" Id="R9c73d5bbc3cc4b4c" /><Relationship Type="http://schemas.openxmlformats.org/officeDocument/2006/relationships/notesMaster" Target="/ppt/notesMasters/notesMaster1.xml" Id="R40c316b5d42e4809" /><Relationship Type="http://schemas.openxmlformats.org/officeDocument/2006/relationships/presProps" Target="/ppt/presProps.xml" Id="Rd8c92e982a574c04" /><Relationship Type="http://schemas.openxmlformats.org/officeDocument/2006/relationships/viewProps" Target="/ppt/viewProps.xml" Id="R39db2ff91c6741f5" /><Relationship Type="http://schemas.openxmlformats.org/officeDocument/2006/relationships/tableStyles" Target="/ppt/tableStyles.xml" Id="R74af18a15d78442c" /><Relationship Type="http://schemas.openxmlformats.org/officeDocument/2006/relationships/slide" Target="/ppt/slides/slide1.xml" Id="R3fd7f75f9a8646b2" /><Relationship Type="http://schemas.openxmlformats.org/officeDocument/2006/relationships/slide" Target="/ppt/slides/slide2.xml" Id="R1c5af3882f264deb" /><Relationship Type="http://schemas.openxmlformats.org/officeDocument/2006/relationships/slide" Target="/ppt/slides/slide3.xml" Id="Rb89eb448fa13413c" /><Relationship Type="http://schemas.openxmlformats.org/officeDocument/2006/relationships/slide" Target="/ppt/slides/slide4.xml" Id="R53dda8e084464cea" /><Relationship Type="http://schemas.openxmlformats.org/officeDocument/2006/relationships/slide" Target="/ppt/slides/slide5.xml" Id="R83df191666dd444b" /><Relationship Type="http://schemas.openxmlformats.org/officeDocument/2006/relationships/slide" Target="/ppt/slides/slide6.xml" Id="Reeeaddad9a3f4ee1" /><Relationship Type="http://schemas.openxmlformats.org/officeDocument/2006/relationships/slide" Target="/ppt/slides/slide7.xml" Id="R3e7dec65a2a74ff8" /><Relationship Type="http://schemas.openxmlformats.org/officeDocument/2006/relationships/slide" Target="/ppt/slides/slide8.xml" Id="Ra4688853299645b3" /><Relationship Type="http://schemas.openxmlformats.org/officeDocument/2006/relationships/slide" Target="/ppt/slides/slide9.xml" Id="Rb4934fb4089a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8fa8b2351e42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7a83f57f9148ac" /><Relationship Type="http://schemas.openxmlformats.org/officeDocument/2006/relationships/notesMaster" Target="/ppt/notesMasters/notesMaster1.xml" Id="R7e694da97e0340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f9db128f674454" /><Relationship Type="http://schemas.openxmlformats.org/officeDocument/2006/relationships/notesMaster" Target="/ppt/notesMasters/notesMaster1.xml" Id="R1efb9f504cf24b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1610bf8646453e" /><Relationship Type="http://schemas.openxmlformats.org/officeDocument/2006/relationships/notesMaster" Target="/ppt/notesMasters/notesMaster1.xml" Id="R83ddc5126147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da969072204654" /><Relationship Type="http://schemas.openxmlformats.org/officeDocument/2006/relationships/notesMaster" Target="/ppt/notesMasters/notesMaster1.xml" Id="R12818ae54bae40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50e7c9b9094f60" /><Relationship Type="http://schemas.openxmlformats.org/officeDocument/2006/relationships/notesMaster" Target="/ppt/notesMasters/notesMaster1.xml" Id="Rabc5af5d287740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04286b2c9b4b2c" /><Relationship Type="http://schemas.openxmlformats.org/officeDocument/2006/relationships/notesMaster" Target="/ppt/notesMasters/notesMaster1.xml" Id="R4b901467ac2f4d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9a0679e74042de" /><Relationship Type="http://schemas.openxmlformats.org/officeDocument/2006/relationships/notesMaster" Target="/ppt/notesMasters/notesMaster1.xml" Id="Rfa39ce43d2514b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ed859c039f481b" /><Relationship Type="http://schemas.openxmlformats.org/officeDocument/2006/relationships/notesMaster" Target="/ppt/notesMasters/notesMaster1.xml" Id="R7e90a462b8944a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bcd56d9df478c" /><Relationship Type="http://schemas.openxmlformats.org/officeDocument/2006/relationships/notesMaster" Target="/ppt/notesMasters/notesMaster1.xml" Id="R68ac521f873f4a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5a2cb837240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893dc5c04249ec" /><Relationship Type="http://schemas.openxmlformats.org/officeDocument/2006/relationships/slideLayout" Target="/ppt/slideLayouts/slideLayout1.xml" Id="R7e89ccd24e7b4f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89ccd24e7b4f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382d2ddfb40d5" /><Relationship Type="http://schemas.openxmlformats.org/officeDocument/2006/relationships/image" Target="/ppt/media/image.png" Id="R26ef2f0babce43a4" /><Relationship Type="http://schemas.openxmlformats.org/officeDocument/2006/relationships/image" Target="/ppt/media/image.svg" Id="Rc0a2800b48cc4e8e" /><Relationship Type="http://schemas.openxmlformats.org/officeDocument/2006/relationships/image" Target="/ppt/media/image2.png" Id="R461b87e0f8da4508" /><Relationship Type="http://schemas.openxmlformats.org/officeDocument/2006/relationships/notesSlide" Target="/ppt/notesSlides/notesSlide1.xml" Id="R68c37e2e308740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9f349d06349a7" /><Relationship Type="http://schemas.openxmlformats.org/officeDocument/2006/relationships/notesSlide" Target="/ppt/notesSlides/notesSlide2.xml" Id="R13c1c8a2fea440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c0d4cc7d948e2" /><Relationship Type="http://schemas.openxmlformats.org/officeDocument/2006/relationships/notesSlide" Target="/ppt/notesSlides/notesSlide3.xml" Id="R6e97af5197d74c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b5d5d66dc4723" /><Relationship Type="http://schemas.openxmlformats.org/officeDocument/2006/relationships/notesSlide" Target="/ppt/notesSlides/notesSlide4.xml" Id="Rdd34d6578f7441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0c38e309043da" /><Relationship Type="http://schemas.openxmlformats.org/officeDocument/2006/relationships/notesSlide" Target="/ppt/notesSlides/notesSlide5.xml" Id="Rf3cf383013c8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13439759f4581" /><Relationship Type="http://schemas.openxmlformats.org/officeDocument/2006/relationships/notesSlide" Target="/ppt/notesSlides/notesSlide6.xml" Id="Rc3980c018ce743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8d56d6f3746d1" /><Relationship Type="http://schemas.openxmlformats.org/officeDocument/2006/relationships/notesSlide" Target="/ppt/notesSlides/notesSlide7.xml" Id="R3f2a6adaf1c0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aa5ada2ee4190" /><Relationship Type="http://schemas.openxmlformats.org/officeDocument/2006/relationships/notesSlide" Target="/ppt/notesSlides/notesSlide8.xml" Id="Rf0bbb03194ab4b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c0c90c7c64207" /><Relationship Type="http://schemas.openxmlformats.org/officeDocument/2006/relationships/notesSlide" Target="/ppt/notesSlides/notesSlide9.xml" Id="R814d6e08d81143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f2f0babce43a4">
            <a:extLst>
              <a:ext uri="{96DAC541-7B7A-43D3-8B79-37D633B846F1}">
                <asvg:svgBlip xmlns:asvg="http://schemas.microsoft.com/office/drawing/2016/SVG/main" r:embed="Rc0a2800b48cc4e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33375"/>
            <a:ext cx="81915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圆角矩形 1">
            <a:extLst xmlns:a="http://schemas.openxmlformats.org/drawingml/2006/main">
              <a:ext uri="{FF2B5EF4-FFF2-40B4-BE49-F238E27FC236}">
                <a16:creationId xmlns:a16="http://schemas.microsoft.com/office/drawing/2014/main" id="{291262BB-F12D-4446-86F3-E259019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F2"/>
          </a:solidFill>
          <a:ln xmlns:a="http://schemas.openxmlformats.org/drawingml/2006/main" w="9525">
            <a:solidFill>
              <a:srgbClr val="E8EBF2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4AC9016-7EF5-4389-8198-1DA122B0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实验结果汇报 · 2026.08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7D9008B-6788-448A-902F-D36092D9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790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42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VESTI MCP + Skill</a:t>
            </a:r>
          </a:p>
          <a:p xmlns:a="http://schemas.openxmlformats.org/drawingml/2006/main">
            <a:pPr algn="l">
              <a:buNone/>
              <a:defRPr sz="42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42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配套历史文件定位方法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47091A3-B58B-408C-AE89-33EEFB01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把历史 AI 会话转化为可追溯的文件证据，既找得到，也知道为什么。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5FB4652-DB9C-4C73-951E-A46806E3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104900"/>
            <a:ext cx="26670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b87e0f8da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15450" y="1495425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62178C0-405E-4910-BE52-AFB912E7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99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证据检索 × 决策核验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88260DD7-11A5-4B33-ACB9-C0BB2512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D93606C-F6A8-417E-891C-942130D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557B8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3557B8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08C11F-E7C6-4354-BB39-AC7F004B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3057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确定性检索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34F3419-C985-469A-A5D9-FCFEED5E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3057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66 个计分任务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E5E5F46C-0C3D-4E30-96C3-FE696846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053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30BE56C-7F02-4836-A3C2-754EAF2D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482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557B8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3557B8"/>
                </a:solidFill>
                <a:latin typeface="Georgia"/>
                <a:ea typeface="Georgia"/>
                <a:cs typeface="Georgia"/>
              </a:rPr>
              <a:t>87.5%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4FB4A-EEE3-496F-85EA-41AE7AF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3057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Skill 定向能力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42901C2-F60C-4894-95BF-99EF722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67375"/>
            <a:ext cx="3057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16 个事前冻结任务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D2F71D0-1335-48CC-88BA-C6BC3BF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0535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311E0CF-4DD5-4736-AB1D-D89777F8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48225"/>
            <a:ext cx="30575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4985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34985F"/>
                </a:solidFill>
                <a:latin typeface="Georgia"/>
                <a:ea typeface="Georgia"/>
                <a:cs typeface="Georgia"/>
              </a:rPr>
              <a:t>0 / 30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2D93967-421D-4309-9A9E-0EC50807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3057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困难负例错文件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AEFD62-E15C-4AFF-A8E8-D123A98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67375"/>
            <a:ext cx="3057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V2 正式压力测试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132812F-B949-4892-8ACF-6F7F3B10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486525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注：不同实验版本与数据集不合并计算；本汇报同时保留负向结果。</a:t>
            </a:r>
          </a:p>
        </p:txBody>
      </p:sp>
    </p:spTree>
    <p:extLst>
      <p:ext uri="{BB962C8B-B14F-4D97-AF65-F5344CB8AC3E}">
        <p14:creationId xmlns:p14="http://schemas.microsoft.com/office/powerpoint/2010/main" val="636206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100C70F-D58F-4EDA-A589-679D038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01 / 用户问题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B45A19-5ABF-4937-A39D-67E208E9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不是普通文件搜索，而是恢复“协作上下文”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22A35DD-6229-48EC-B591-1D723056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4616B65-02BB-4396-BF07-14627229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用户往往只记得模糊线索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A9E2A1D-CC56-4F48-990D-DA7AE151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112C3D4-4F54-4D69-BAA7-14B312B1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“上次讨论登录问题时改过一个配置文件”</a:t>
            </a: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9B858C84-095C-432E-B7C3-A7EB156A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10F10F-AC09-4649-9AB4-25DD54C6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“某个项目里有一份包含特定函数的文件”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A8A2A63B-5F7B-4A5B-BEC2-A1F8829F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4953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CB82E08-0290-44B7-968D-44257022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“前几周 AI 提到过一份实验报告”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BF30726-3867-4CA3-802D-B7947E2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001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564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564D"/>
                </a:solidFill>
                <a:latin typeface="微软雅黑"/>
                <a:ea typeface="微软雅黑"/>
                <a:cs typeface="微软雅黑"/>
              </a:rPr>
              <a:t>传统方式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54A6122-8000-4A23-B6EC-2763A72D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47850"/>
            <a:ext cx="5162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EEEE"/>
          </a:solidFill>
          <a:ln xmlns:a="http://schemas.openxmlformats.org/drawingml/2006/main" w="9525">
            <a:solidFill>
              <a:srgbClr val="E5C3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C7CA5C8-1A69-4D26-981E-2F8B8595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5025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回忆关键词  →  多次搜索  →  打开多份文件  →  人工核对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999036F-A28E-49E6-B63D-26A8CB5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985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4985F"/>
                </a:solidFill>
                <a:latin typeface="微软雅黑"/>
                <a:ea typeface="微软雅黑"/>
                <a:cs typeface="微软雅黑"/>
              </a:rPr>
              <a:t>VESTI 配套方法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E9BA70A5-45A5-41CA-BA5B-4C35F9F2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51625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B8D9C6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7B0B35E-249E-4ABB-9D59-0123A3D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48125"/>
            <a:ext cx="4629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描述历史线索  →  检索证据  →  核验约束  →  返回最小文件集或拒答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0CB5C70-0B23-47D9-A8EA-0041CF6F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F2"/>
          </a:solidFill>
          <a:ln xmlns:a="http://schemas.openxmlformats.org/drawingml/2006/main" w="9525">
            <a:solidFill>
              <a:srgbClr val="E8EBF2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43A849F-AF3C-4FE2-969E-0735203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34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文件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1B32DED-15EE-41B2-B954-3B8EBD85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5054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F2"/>
          </a:solidFill>
          <a:ln xmlns:a="http://schemas.openxmlformats.org/drawingml/2006/main" w="9525">
            <a:solidFill>
              <a:srgbClr val="E8EBF2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F50E420-7710-43BC-9D90-1144E67F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5340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A41714AA-C927-4780-8457-AE95FA49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054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BF2"/>
          </a:solidFill>
          <a:ln xmlns:a="http://schemas.openxmlformats.org/drawingml/2006/main" w="9525">
            <a:solidFill>
              <a:srgbClr val="E8EBF2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5945606-2325-4BAB-A55E-E84CFE4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340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支撑会话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FE1F2AD-E3FF-4F6E-A59A-03F1F830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目标：恢复“文件—项目—会话证据”的关系，而不是只匹配文件名。 </a:t>
            </a:r>
          </a:p>
        </p:txBody>
      </p:sp>
    </p:spTree>
    <p:extLst>
      <p:ext uri="{BB962C8B-B14F-4D97-AF65-F5344CB8AC3E}">
        <p14:creationId xmlns:p14="http://schemas.microsoft.com/office/powerpoint/2010/main" val="16279317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7951F-F13B-4ABC-A8C6-1C2C75E8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02 / 方法原理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2A00AF-6A7A-4760-9ED7-80C337A0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一套方法：证据检索与决策核验形成闭环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890030-5CD7-4C67-93A9-212590E1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7D213ED-9A05-4632-AAC7-5CD9BE4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MCP 可以理解为 AI 调用历史检索能力的标准接口；Skill 是 AI 的检索、核验与停止规则。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951F6FE-7979-481A-9097-BD6A7878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90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4387AB-08C4-4ED7-9576-9884817D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90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7B2158A-236E-461C-BC20-6D21B4B8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90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8445E6F-DB5E-4CB9-8103-83C409B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908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6E4BACF7-BC8D-4DC3-B588-A9416901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952625" cy="257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E3B330-7D98-47DD-B355-7E846296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0A7E675-ED21-41B6-B13A-2925EE5C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理解线索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C108041-ABB6-4076-8969-7EF0754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571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识别文件名、项目、时间、稀有词与多文件意图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427286FC-1932-4CBE-A766-651919D5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952625" cy="257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2FD"/>
          </a:solidFill>
          <a:ln xmlns:a="http://schemas.openxmlformats.org/drawingml/2006/main" w="9525">
            <a:solidFill>
              <a:srgbClr val="B7C6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7D6BE61-F27E-4B4B-A0C6-9AD2D57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9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519F604-43E6-4457-95EC-12243163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146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召回证据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5F60BC-7C3A-4A33-923E-041B5037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86125"/>
            <a:ext cx="1571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MCP 返回候选路径、项目与支撑会话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911999C-CF93-41DA-AA8F-5CDF083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952625" cy="257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4EDFD"/>
          </a:solidFill>
          <a:ln xmlns:a="http://schemas.openxmlformats.org/drawingml/2006/main" w="9525">
            <a:solidFill>
              <a:srgbClr val="D2BCE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F67BF5E-0349-46B2-A829-608FFD0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280B057-B1BF-4F30-9641-AB9F805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146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核验约束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9467855-F670-487B-9A98-59619903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1571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Skill 检查完整锚点、项目范围与会话交集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54C23065-B9CB-4F82-87DB-68F6A18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1952625" cy="257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4EDFD"/>
          </a:solidFill>
          <a:ln xmlns:a="http://schemas.openxmlformats.org/drawingml/2006/main" w="9525">
            <a:solidFill>
              <a:srgbClr val="D2BCE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22EDBFA-C703-411C-8D5E-01BEE1C6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D8A5AA8-BAD8-4AAF-A2DA-3933B4C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146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收敛答案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4687EFA-D017-40F8-A5EA-1BC0B938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86125"/>
            <a:ext cx="1571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只保留能被同一证据支持的最小文件集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E01E415F-CF9C-4EE4-B230-66C4EEE8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1952625" cy="25717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4EDFD"/>
          </a:solidFill>
          <a:ln xmlns:a="http://schemas.openxmlformats.org/drawingml/2006/main" w="9525">
            <a:solidFill>
              <a:srgbClr val="D2BCE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E0980C1-7B9E-4913-A57E-ED5B52BB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3EC626F-6A2B-4C9E-92C1-F564F318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1462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安全停止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3C85584-07AD-4E04-9947-4B0A0B7E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86125"/>
            <a:ext cx="1571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证据不足或目标不存在时拒绝猜测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5EEBF943-FE64-4E09-9F5F-7BDEEF58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10953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A1C23"/>
          </a:solidFill>
          <a:ln xmlns:a="http://schemas.openxmlformats.org/drawingml/2006/main" w="9525">
            <a:solidFill>
              <a:srgbClr val="1A1C23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9B557BD-4B54-4F04-8FFD-B0B51097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292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产品架构将 MCP 与 Skill 作为配套链路共同交付；消融实验只用于定位贡献与故障，不代表两个独立产品。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0B762AE-0E7C-428A-A14A-CD8C2261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方法输出：path + project + evidence_session_ids + historical_only。 </a:t>
            </a:r>
          </a:p>
        </p:txBody>
      </p:sp>
    </p:spTree>
    <p:extLst>
      <p:ext uri="{BB962C8B-B14F-4D97-AF65-F5344CB8AC3E}">
        <p14:creationId xmlns:p14="http://schemas.microsoft.com/office/powerpoint/2010/main" val="1384084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A3618EA-B47C-4121-B3EE-81D215B1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03 / 评测设计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DF90E6-145C-463A-B076-8CCCD567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五轮主线 + 一轮定向验证：从“找得到”到“答得稳”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2958A53-7549-44C9-BB9E-96EEAED2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9216FE-7F7E-41BD-8C8E-8DE1853F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96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每轮回答不同问题，因此结果分别报告，不跨版本池化。</a:t>
            </a:r>
          </a:p>
        </p:txBody>
      </p:sp>
      <p:cxnSp>
        <p:nvCxnSpPr>
          <p:cNvPr id="53" name="直接箭头连接符 42"/>
          <p:cNvCxnSpPr/>
          <p:nvPr/>
        </p:nvCxnSpPr>
        <p:spPr>
          <a:xfrm xmlns:a="http://schemas.openxmlformats.org/drawingml/2006/main">
            <a:off x="838200" y="4933950"/>
            <a:ext cx="10325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D3DD"/>
            </a:solidFill>
            <a:prstDash val="solid"/>
          </a:ln>
        </p:spPr>
      </p:cxn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CD8A5E53-3C49-42E6-970C-2BF2F0C5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952625" cy="27813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BD45072-5913-4876-B627-E44021C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DB0AB15-9F0B-41DA-837D-D08A2AC1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确定性检索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21A0034-8CEE-4950-9083-426F5F4E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72 题 / 66 题计分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1263FC3-9C4F-480E-80AD-2EEA135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正确文件能否进入 Top-5？</a:t>
            </a: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03690BFB-9438-486C-AE51-C344149B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3C96AB08-1A8F-4DC1-959C-C294F6F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09750"/>
            <a:ext cx="1952625" cy="27813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F61FA46-3EAA-4C75-954E-A6B155F5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F4BAA5E-DA9F-47D9-9CBE-CEA21BB2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193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早期端到端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7B410E9-07BC-4B04-B480-39F7C96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765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72 题 × 4 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ACAB6F-47DD-467A-8632-1DD5A057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9975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完整方法是否优于旧流程？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C3380549-21D5-4929-80A7-E7329396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45DA9C7-957D-4F22-B257-B2AC068E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52625" cy="27813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99ADD37-8FD1-45D6-898C-53BA6BB9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904461F-6BDF-4275-8549-186D8C44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193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V2 开发校准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5780772-82D2-46B6-A818-4E92282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765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24 题 × 2 次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0DF690-6544-488E-A1AC-512DBCC1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9975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流程与安全规则是否稳定？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8B40B827-CB09-4E61-8BB5-EB55AD11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2BF43CF6-3AA3-4DA5-966B-C5A1E2B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09750"/>
            <a:ext cx="1952625" cy="27813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EDC7B8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9C8C585-4CC1-44C7-B409-EC70950B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564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C8564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0ABF704-95EB-445D-AC7D-5B2B529D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193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V2 正式压力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E406761-DDCB-40D5-975A-11E5B6A6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120 题 × 3 次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6C2234B-FC2B-4DA9-9EBB-86D9459A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09975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困难负例和候选噪声下会怎样？</a:t>
            </a:r>
          </a:p>
        </p:txBody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4B79F869-7FAC-4498-80CC-E5E3F4C4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40C02D5C-4E5B-4842-822D-AA76BD0A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952625" cy="278130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B8D9C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8D3231F-2E43-484E-A84C-7E06889D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4985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4985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94A3D72-860B-4D93-80A5-C288FF50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19350"/>
            <a:ext cx="157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V3 + 定向验证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4806FE4-7820-4058-BDC7-D4F81D0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76575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24 题 + 16 题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92E4F7E-1EE6-484C-94DB-AA77886F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09975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修复是否稳定？Skill 职责场景有无增益？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2D3C07C5-C753-4B84-9026-0BE26031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98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8A81AA4C-3067-4E00-98F8-E62357B3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953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8EBF2"/>
          </a:solidFill>
          <a:ln xmlns:a="http://schemas.openxmlformats.org/drawingml/2006/main" w="9525">
            <a:solidFill>
              <a:srgbClr val="E8EBF2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A126A45-D0BD-43EF-961F-511CFAD9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49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可信度原则：保留好结果、负结果和修复结果；所有结论都对应具体版本、样本量与统计边界。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EF51B2D-B524-49CD-852D-ACAAEE75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术语：pp=百分点；CI=置信区间；困难负例=存在相似干扰但没有完整目标证据的任务。 </a:t>
            </a:r>
          </a:p>
        </p:txBody>
      </p:sp>
    </p:spTree>
    <p:extLst>
      <p:ext uri="{BB962C8B-B14F-4D97-AF65-F5344CB8AC3E}">
        <p14:creationId xmlns:p14="http://schemas.microsoft.com/office/powerpoint/2010/main" val="1765086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1346550-FAD1-4D7D-9978-B3187CD8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04 / 主要证据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82EC31-785E-49BB-B297-4427E201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核心结果：检索能力明确提升，端到端呈现正向信号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2B43020-EFC8-463C-A054-66BBF51B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314D2E3A-CFCC-4C86-B0F5-F0EE234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6905625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cxnSp>
        <p:nvCxnSpPr>
          <p:cNvPr id="84" name="直接箭头连接符 53"/>
          <p:cNvCxnSpPr/>
          <p:nvPr/>
        </p:nvCxnSpPr>
        <p:spPr>
          <a:xfrm xmlns:a="http://schemas.openxmlformats.org/drawingml/2006/main">
            <a:off x="1209675" y="4800600"/>
            <a:ext cx="5734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FD3DD"/>
            </a:solidFill>
            <a:prstDash val="solid"/>
          </a:ln>
        </p:spPr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D542DBD-8714-41C3-A39C-48AA4BA9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053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0%</a:t>
            </a:r>
          </a:p>
        </p:txBody>
      </p:sp>
      <p:cxnSp>
        <p:nvCxnSpPr>
          <p:cNvPr id="86" name="直接箭头连接符 55"/>
          <p:cNvCxnSpPr/>
          <p:nvPr/>
        </p:nvCxnSpPr>
        <p:spPr>
          <a:xfrm xmlns:a="http://schemas.openxmlformats.org/drawingml/2006/main">
            <a:off x="1209675" y="4221480"/>
            <a:ext cx="5734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B2D7F3-139E-4A99-B205-A3404488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2623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  <p:cxnSp>
        <p:nvCxnSpPr>
          <p:cNvPr id="88" name="直接箭头连接符 57"/>
          <p:cNvCxnSpPr/>
          <p:nvPr/>
        </p:nvCxnSpPr>
        <p:spPr>
          <a:xfrm xmlns:a="http://schemas.openxmlformats.org/drawingml/2006/main">
            <a:off x="1209675" y="3642360"/>
            <a:ext cx="5734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928CF17-C2B6-4D18-BBE3-347883D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4711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40%</a:t>
            </a:r>
          </a:p>
        </p:txBody>
      </p:sp>
      <p:cxnSp>
        <p:nvCxnSpPr>
          <p:cNvPr id="90" name="直接箭头连接符 59"/>
          <p:cNvCxnSpPr/>
          <p:nvPr/>
        </p:nvCxnSpPr>
        <p:spPr>
          <a:xfrm xmlns:a="http://schemas.openxmlformats.org/drawingml/2006/main">
            <a:off x="1209675" y="3063240"/>
            <a:ext cx="5734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37F4B12-7648-492C-B0D8-0F131432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6799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60%</a:t>
            </a:r>
          </a:p>
        </p:txBody>
      </p:sp>
      <p:cxnSp>
        <p:nvCxnSpPr>
          <p:cNvPr id="92" name="直接箭头连接符 61"/>
          <p:cNvCxnSpPr/>
          <p:nvPr/>
        </p:nvCxnSpPr>
        <p:spPr>
          <a:xfrm xmlns:a="http://schemas.openxmlformats.org/drawingml/2006/main">
            <a:off x="1209675" y="2484120"/>
            <a:ext cx="5734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63F020-6F87-49E3-A236-6E4E2434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887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cxnSp>
        <p:nvCxnSpPr>
          <p:cNvPr id="94" name="直接箭头连接符 63"/>
          <p:cNvCxnSpPr/>
          <p:nvPr/>
        </p:nvCxnSpPr>
        <p:spPr>
          <a:xfrm xmlns:a="http://schemas.openxmlformats.org/drawingml/2006/main">
            <a:off x="1209675" y="1905000"/>
            <a:ext cx="57340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204F662-89A1-4D3C-9DFB-59A3CEAB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87FF2961-27DA-46F6-BB9F-398CA5ED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159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1FB1214-8AAC-4B3B-BD45-E360A35C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33525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旧流程</a:t>
            </a:r>
          </a:p>
        </p:txBody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740FD033-E505-476B-92FF-7334374B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59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57B8"/>
          </a:solidFill>
          <a:ln xmlns:a="http://schemas.openxmlformats.org/drawingml/2006/main" w="0">
            <a:solidFill>
              <a:srgbClr val="3557B8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DD05589-8283-41FD-AEED-83A07991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33525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VESTI 配套方法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333B3C70-0599-4515-8823-C5D5B7F6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325" y="2431999"/>
            <a:ext cx="542925" cy="2368601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0779AC-E311-47EA-98BB-E699A32E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75" y="2193874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rPr>
              <a:t>81.8%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9A1ECC00-2FE3-4585-8B5C-B645FDBB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450" y="1905000"/>
            <a:ext cx="542925" cy="2895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3557B8"/>
          </a:solidFill>
          <a:ln xmlns:a="http://schemas.openxmlformats.org/drawingml/2006/main" w="0">
            <a:solidFill>
              <a:srgbClr val="3557B8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D8552B8-EC95-4499-A194-09EF13E3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200" y="188595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39BB104-DA7A-40A5-90BA-60771028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24425"/>
            <a:ext cx="183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确定性检索 N=66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4F96BE60-8D31-4511-BC4B-14596C90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48027"/>
            <a:ext cx="542925" cy="2452573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BCAF616-9467-4789-95CA-6D4ADA8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09902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rPr>
              <a:t>84.7%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9C35ECFC-9DCE-43A4-857A-D378D275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04796"/>
            <a:ext cx="542925" cy="2695804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3557B8"/>
          </a:solidFill>
          <a:ln xmlns:a="http://schemas.openxmlformats.org/drawingml/2006/main" w="0">
            <a:solidFill>
              <a:srgbClr val="3557B8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AF53B66-AB08-4E77-B6BF-9AB49AD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8595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93.1%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1019C09-4176-4B58-A71C-CCDEDB4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125" y="4924425"/>
            <a:ext cx="183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早期完整方法 N=72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6244859A-FCCE-42EF-8881-A79269DA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025" y="3836365"/>
            <a:ext cx="542925" cy="96423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FAEDC02-33D2-40F2-92F5-D1B9829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775" y="359824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rPr>
              <a:t>33.3%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3F8BEF4F-61B3-4D62-8F39-6C76D9E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1905000"/>
            <a:ext cx="542925" cy="2895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3557B8"/>
          </a:solidFill>
          <a:ln xmlns:a="http://schemas.openxmlformats.org/drawingml/2006/main" w="0">
            <a:solidFill>
              <a:srgbClr val="3557B8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E97A8C21-38C5-49C6-9CFB-97600DDE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188595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957AFAB-6B2A-4214-9A62-B28774B7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475" y="4924425"/>
            <a:ext cx="183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文件名专项 N=12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A04493E0-897A-4BF2-AAB9-841A205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219200"/>
            <a:ext cx="371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BC600BD-9929-4C4C-AF61-59B8A591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36207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4985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34985F"/>
                </a:solidFill>
                <a:latin typeface="Georgia"/>
                <a:ea typeface="Georgia"/>
                <a:cs typeface="Georgia"/>
              </a:rPr>
              <a:t>+18.2pp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FC422CD-C9E5-4B78-B78D-DC7E5599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669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确定性检索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770F2F4-42A2-4197-BCD6-1D18FE1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3295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100.0% vs 81.8%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95% CI [+17.4,+19.0]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69D3D32-9FE6-4722-B147-781837A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43200"/>
            <a:ext cx="371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8BAF94F-9D9A-4636-A172-6FF046FD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8607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557B8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3557B8"/>
                </a:solidFill>
                <a:latin typeface="Georgia"/>
                <a:ea typeface="Georgia"/>
                <a:cs typeface="Georgia"/>
              </a:rPr>
              <a:t>+8.3pp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DCC8234-B0FD-4687-A1DA-5E387451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909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早期端到端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97A8CA7-B0DE-4818-9F7B-5AE0102A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705225"/>
            <a:ext cx="3295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93.1% vs 84.7%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总体 CI 跨 0，仅称“观察提升”</a:t>
            </a: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B4E26249-40BA-4042-8652-0464DBD0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67200"/>
            <a:ext cx="371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20CCE2F4-9D02-4C96-93B4-BEA793B4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10075"/>
            <a:ext cx="3295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B44EE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8B44EE"/>
                </a:solidFill>
                <a:latin typeface="Georgia"/>
                <a:ea typeface="Georgia"/>
                <a:cs typeface="Georgia"/>
              </a:rPr>
              <a:t>+66.7pp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8DCD281-2371-4619-B4EE-FACBA245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914900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文件名专项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9A094D6-5751-4620-AD8F-361DA9FA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229225"/>
            <a:ext cx="3295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100% vs 33.3%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p=0.0078；事后小分层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A681B39F-A9DE-44C9-9E9C-61DEE23B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83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检索层效率：中位调用 11→1（-90.9%）；模型可见载荷 12,317B→4,318B（-64.9%）。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77782346-1F70-460C-8248-9F303474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数据：full-v2-release-limit12；agent-factorial-v2-final-limit12。均为冻结合成基准。 </a:t>
            </a:r>
          </a:p>
        </p:txBody>
      </p:sp>
    </p:spTree>
    <p:extLst>
      <p:ext uri="{BB962C8B-B14F-4D97-AF65-F5344CB8AC3E}">
        <p14:creationId xmlns:p14="http://schemas.microsoft.com/office/powerpoint/2010/main" val="15493462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661622B-C2E8-49EE-A05E-6DA02078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05 / 失败与权衡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207E26F-E5B5-461A-9F5A-AB810ADD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正式压力测试：V2 更安全，但正例精度显著回退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74E1F90-9B11-4562-BDFA-0EE1F0EC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D7B4A2C5-F7DF-4B55-AF7D-49DCFC1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7000875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cxnSp>
        <p:nvCxnSpPr>
          <p:cNvPr id="80" name="直接箭头连接符 49"/>
          <p:cNvCxnSpPr/>
          <p:nvPr/>
        </p:nvCxnSpPr>
        <p:spPr>
          <a:xfrm xmlns:a="http://schemas.openxmlformats.org/drawingml/2006/main">
            <a:off x="1219200" y="4533900"/>
            <a:ext cx="581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FD3DD"/>
            </a:solidFill>
            <a:prstDash val="solid"/>
          </a:ln>
        </p:spPr>
      </p:cxn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D041F5F-9A09-4EDC-85E6-C2C0D917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0%</a:t>
            </a:r>
          </a:p>
        </p:txBody>
      </p:sp>
      <p:cxnSp>
        <p:nvCxnSpPr>
          <p:cNvPr id="82" name="直接箭头连接符 51"/>
          <p:cNvCxnSpPr/>
          <p:nvPr/>
        </p:nvCxnSpPr>
        <p:spPr>
          <a:xfrm xmlns:a="http://schemas.openxmlformats.org/drawingml/2006/main">
            <a:off x="1219200" y="4008120"/>
            <a:ext cx="581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2E89375-B0B0-45BE-B593-E300912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287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  <p:cxnSp>
        <p:nvCxnSpPr>
          <p:cNvPr id="84" name="直接箭头连接符 53"/>
          <p:cNvCxnSpPr/>
          <p:nvPr/>
        </p:nvCxnSpPr>
        <p:spPr>
          <a:xfrm xmlns:a="http://schemas.openxmlformats.org/drawingml/2006/main">
            <a:off x="1219200" y="3482340"/>
            <a:ext cx="581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09FEEE2-91A9-4FC4-8E27-414E3F0D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709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40%</a:t>
            </a:r>
          </a:p>
        </p:txBody>
      </p:sp>
      <p:cxnSp>
        <p:nvCxnSpPr>
          <p:cNvPr id="86" name="直接箭头连接符 55"/>
          <p:cNvCxnSpPr/>
          <p:nvPr/>
        </p:nvCxnSpPr>
        <p:spPr>
          <a:xfrm xmlns:a="http://schemas.openxmlformats.org/drawingml/2006/main">
            <a:off x="1219200" y="2956560"/>
            <a:ext cx="581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98963B7-BA8F-4A6D-8974-55957F37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131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60%</a:t>
            </a:r>
          </a:p>
        </p:txBody>
      </p:sp>
      <p:cxnSp>
        <p:nvCxnSpPr>
          <p:cNvPr id="88" name="直接箭头连接符 57"/>
          <p:cNvCxnSpPr/>
          <p:nvPr/>
        </p:nvCxnSpPr>
        <p:spPr>
          <a:xfrm xmlns:a="http://schemas.openxmlformats.org/drawingml/2006/main">
            <a:off x="1219200" y="2430780"/>
            <a:ext cx="581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D2B6ED6-7B5D-419F-8567-2BDD0EF3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553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cxnSp>
        <p:nvCxnSpPr>
          <p:cNvPr id="90" name="直接箭头连接符 59"/>
          <p:cNvCxnSpPr/>
          <p:nvPr/>
        </p:nvCxnSpPr>
        <p:spPr>
          <a:xfrm xmlns:a="http://schemas.openxmlformats.org/drawingml/2006/main">
            <a:off x="1219200" y="1905000"/>
            <a:ext cx="5810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1E4EA"/>
            </a:solidFill>
            <a:prstDash val="solid"/>
          </a:ln>
        </p:spPr>
      </p:cxn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6CBCAA9-5F0F-4A21-B99E-A836897E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5CF493A3-1CD8-43AC-8AA5-394F4769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9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71C8229-B66C-4A7E-91B3-09CD1188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33525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仅检索层消融组</a:t>
            </a:r>
          </a:p>
        </p:txBody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4DD49C49-06DD-40DC-BD54-0935898D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90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44EE"/>
          </a:solidFill>
          <a:ln xmlns:a="http://schemas.openxmlformats.org/drawingml/2006/main" w="0">
            <a:solidFill>
              <a:srgbClr val="8B44E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24B01-AAB1-42BB-8549-F8042F21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33525"/>
            <a:ext cx="2162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V2 配套方法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084D2F7F-E8D2-48E1-B941-4A64A95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550" y="2517534"/>
            <a:ext cx="542925" cy="2016366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AD73FB4-83E8-40CB-B1C2-4EE74AAF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300" y="2279409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rPr>
              <a:t>76.7%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68EEF93-6F4C-40A6-9911-F143FA45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2738361"/>
            <a:ext cx="542925" cy="1795539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8B44EE"/>
          </a:solidFill>
          <a:ln xmlns:a="http://schemas.openxmlformats.org/drawingml/2006/main" w="0">
            <a:solidFill>
              <a:srgbClr val="8B44E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5A997E-FE7F-47A8-BF68-AB90AB72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425" y="2500236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68.3%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92CF4E6-EE7F-452C-81CC-CB65BC97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186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总体成功率</a:t>
            </a: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F4D60037-85D9-4AC2-9FA9-DF3B2F8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38870"/>
            <a:ext cx="542925" cy="229503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E3C4D73-12E7-4C19-A55C-3E1F3933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745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rPr>
              <a:t>87.3%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D7A49551-CB5F-49D8-AA51-4F3057EB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6095"/>
            <a:ext cx="542925" cy="1637805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8B44EE"/>
          </a:solidFill>
          <a:ln xmlns:a="http://schemas.openxmlformats.org/drawingml/2006/main" w="0">
            <a:solidFill>
              <a:srgbClr val="8B44EE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B870C41-9953-4581-943F-B15D4E90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5797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62.3%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E98FF50-C9C8-4357-B1A0-EA86BAB0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0" y="4657725"/>
            <a:ext cx="186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正例成功率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6ADC1D0D-4627-4F1E-A428-0386A18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050" y="3745230"/>
            <a:ext cx="542925" cy="78867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A7ADBA"/>
          </a:solidFill>
          <a:ln xmlns:a="http://schemas.openxmlformats.org/drawingml/2006/main" w="0">
            <a:solidFill>
              <a:srgbClr val="A7ADBA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753AD11-CA6F-45DF-8682-B7958185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00" y="3507105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7ADBA"/>
                </a:solidFill>
                <a:latin typeface="微软雅黑"/>
                <a:ea typeface="微软雅黑"/>
                <a:cs typeface="微软雅黑"/>
              </a:rPr>
              <a:t>30%</a:t>
            </a: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DF85B6F7-F899-4FB6-9131-9C2DB1FC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175" y="4524375"/>
            <a:ext cx="54292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44EE"/>
          </a:solidFill>
          <a:ln xmlns:a="http://schemas.openxmlformats.org/drawingml/2006/main" w="0">
            <a:solidFill>
              <a:srgbClr val="8B44EE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5D95B39-9588-4BC9-AECD-923F068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925" y="4286250"/>
            <a:ext cx="733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0%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31ACCE6-A5C3-4570-9F14-384135BA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4657725"/>
            <a:ext cx="186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困难负例错文件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CC9268C7-CBBC-4C77-8BBD-8D77B6F4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38250"/>
            <a:ext cx="36480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EDC7B8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F768BFED-A359-4D2E-A57C-B091822D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57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564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C8564D"/>
                </a:solidFill>
                <a:latin typeface="微软雅黑"/>
                <a:ea typeface="微软雅黑"/>
                <a:cs typeface="微软雅黑"/>
              </a:rPr>
              <a:t>主终点失败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016076E-5581-4F73-B3AB-BBB8388D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716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A1C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A1C23"/>
                </a:solidFill>
                <a:latin typeface="Georgia"/>
                <a:ea typeface="Georgia"/>
                <a:cs typeface="Georgia"/>
              </a:rPr>
              <a:t>68.3% vs 76.7%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C24B96BC-88E5-41B6-9905-4A435A4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050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差值 -8.3pp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95% CI [-14.4,-2.8]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D5A3167A-1B1A-4177-B129-8353E0BC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3648075" cy="242887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B8D9C6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D934414B-C6BA-484B-A6AE-1480C812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62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4985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4985F"/>
                </a:solidFill>
                <a:latin typeface="微软雅黑"/>
                <a:ea typeface="微软雅黑"/>
                <a:cs typeface="微软雅黑"/>
              </a:rPr>
              <a:t>安全性改善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A0357DD-7C33-45F3-9390-EEBA724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76675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A1C23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A1C23"/>
                </a:solidFill>
                <a:latin typeface="Georgia"/>
                <a:ea typeface="Georgia"/>
                <a:cs typeface="Georgia"/>
              </a:rPr>
              <a:t>9 / 30  →  0 / 30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F613EA2A-CE5F-42F2-9557-2DD91BFD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148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困难负例中实际错误文件返回率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30% → 0%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EF67CFD-313F-4CFC-A44D-C3F5A26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原因：正确文件通常已在 MCP 初始候选中，但 V2 核验阶段过度合并，累计带入 430 个额外文件。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AB1F667-3E7C-46F6-B530-D6FBCAF3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数据：agent-v2-formal-20260816，120题×3重复×4臂；1,440 次计划运行。 </a:t>
            </a:r>
          </a:p>
        </p:txBody>
      </p:sp>
    </p:spTree>
    <p:extLst>
      <p:ext uri="{BB962C8B-B14F-4D97-AF65-F5344CB8AC3E}">
        <p14:creationId xmlns:p14="http://schemas.microsoft.com/office/powerpoint/2010/main" val="1419418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74A3027-185E-4B10-B08B-E7F3831A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06 / 工程迭代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BDB216B-1419-4EB0-BF61-0D77FA0D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V3 修复闭环：消除过度合并，恢复精确定位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34FDF16-FFE7-419C-846B-00565F89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CAAB4253-7E2F-4B7D-9657-B9BB8F28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2EC"/>
          </a:solidFill>
          <a:ln xmlns:a="http://schemas.openxmlformats.org/drawingml/2006/main" w="9525">
            <a:solidFill>
              <a:srgbClr val="C8564D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C29202-E11E-4DF6-9D69-E4076D3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8564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564D"/>
                </a:solidFill>
                <a:latin typeface="微软雅黑"/>
                <a:ea typeface="微软雅黑"/>
                <a:cs typeface="微软雅黑"/>
              </a:rPr>
              <a:t>V2 暴露问题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B6A18BF-4D0F-4F24-AAAC-39203FB4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软排序被当成严格证据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不同支撑会话的候选被错误并集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4AF0A3-7A44-4797-B621-CD5823C3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29BDD74-FDD4-427D-816A-551A6ADC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76375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EDFD"/>
          </a:solidFill>
          <a:ln xmlns:a="http://schemas.openxmlformats.org/drawingml/2006/main" w="9525">
            <a:solidFill>
              <a:srgbClr val="8B44E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CD18E2-4AEC-4B79-AA82-AA89709C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954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8B44EE"/>
                </a:solidFill>
                <a:latin typeface="微软雅黑"/>
                <a:ea typeface="微软雅黑"/>
                <a:cs typeface="微软雅黑"/>
              </a:rPr>
              <a:t>V3 修复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B23FF6B-5AE6-4F29-BDB9-11148103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完整锚点逐字核验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项目过滤 + 会话求交 + 最小集合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2F6B1C1-1A3A-405C-9A3B-F68AB45E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CFD3D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A4E9A5FC-7C8A-4B1C-A118-CBC3F2E9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76375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34985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C93F5EB-82D8-4C38-A137-650377DF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954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4985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4985F"/>
                </a:solidFill>
                <a:latin typeface="微软雅黑"/>
                <a:ea typeface="微软雅黑"/>
                <a:cs typeface="微软雅黑"/>
              </a:rPr>
              <a:t>快速回归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013706-1AF3-4560-A484-388AD1A5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2876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24 个首次运行前冻结的新任务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旧问题未在正例中复现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392319C5-0FC4-45A7-827A-993D7815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0FA8B58-BC55-46B3-B150-36DBDC3A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557B8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3557B8"/>
                </a:solidFill>
                <a:latin typeface="Georgia"/>
                <a:ea typeface="Georgia"/>
                <a:cs typeface="Georgia"/>
              </a:rPr>
              <a:t>95.8%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9C97F8-4729-407F-9CDB-1E4B8EA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V3 总体成功率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D6D743B-FE98-4794-8515-803C2C4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23 / 24；探索性快速回归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36EFADC6-7562-4B73-A602-94C559FB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57625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323F359-5120-44FB-9BCA-B98A1730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67175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34985F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34985F"/>
                </a:solidFill>
                <a:latin typeface="Georgia"/>
                <a:ea typeface="Georgia"/>
                <a:cs typeface="Georgia"/>
              </a:rPr>
              <a:t>18 / 18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4B7F05-8599-463F-967D-7A920396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33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正例精确定位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A8B6993-B471-42B2-897E-E3361D07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958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无额外文件；项目与支撑会话均正确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CB6C55-1388-4232-9DF0-B118EC4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57625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8D8F555-D2DB-427B-B465-AFE190CF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67175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8B44EE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8B44EE"/>
                </a:solidFill>
                <a:latin typeface="Georgia"/>
                <a:ea typeface="Georgia"/>
                <a:cs typeface="Georgia"/>
              </a:rPr>
              <a:t>-19.8%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374CE277-3CC6-4A85-B813-A626859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33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工具调用总量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F4FC08E-6F9F-4804-889C-0502B857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958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182 → 146；节省主要集中在负例</a:t>
            </a: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2129F432-7755-4B7D-AA14-3C588A58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57625"/>
            <a:ext cx="2571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3DD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D01644F-9CEA-48CA-AD92-EC4FC788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67175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D58A27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D58A27"/>
                </a:solidFill>
                <a:latin typeface="Georgia"/>
                <a:ea typeface="Georgia"/>
                <a:cs typeface="Georgia"/>
              </a:rPr>
              <a:t>0pp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962B881-D064-423B-84DD-6CDCCC4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33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相对内部消融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EB3629C-3741-425C-84B5-0D9DA10C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9587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两组均 95.8%；未证明额外准确率增益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4FE7B07-0946-4441-BC5E-1CCBDF31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边界：Token +4.9%，端到端时长 +3.6%；这轮证明“修复回归通过”，不是全面提效。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42433D7-7EA6-4F82-BFD3-B0519FD8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数据：agent-rapid-v3-20260816；24个此前未运行、首次调用前冻结的针对性任务。 </a:t>
            </a:r>
          </a:p>
        </p:txBody>
      </p:sp>
    </p:spTree>
    <p:extLst>
      <p:ext uri="{BB962C8B-B14F-4D97-AF65-F5344CB8AC3E}">
        <p14:creationId xmlns:p14="http://schemas.microsoft.com/office/powerpoint/2010/main" val="1446911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3BF1FFB-3CC5-4867-BD75-1486DA0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07 / 定向能力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8AE4F6-4C59-4CB2-85F7-A16D80D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Skill 在职责场景中呈现正向增量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3BF033F-FEC0-4E2C-9AB7-5D518C83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336590-158B-4325-A968-CF8C981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事前定义｜N=16｜同一 MCP，仅 Skill 开 / 关｜探索性机制验证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4193E622-C086-4CD2-BD96-DAE39F7E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34985F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1D2164D5-4D01-4AA2-8525-F68C4EF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985F"/>
          </a:solidFill>
          <a:ln xmlns:a="http://schemas.openxmlformats.org/drawingml/2006/main" w="9525">
            <a:solidFill>
              <a:srgbClr val="34985F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F6F5CDB-4324-44E5-B5E4-DD09B1E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严格成功率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C9A3DF-329D-4ABD-93E2-F7284D67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4985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34985F"/>
                </a:solidFill>
                <a:latin typeface="Georgia"/>
                <a:ea typeface="Georgia"/>
                <a:cs typeface="Georgia"/>
              </a:rPr>
              <a:t>87.5%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F088913-134E-4F93-B68D-55BE756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完整配套组 14 / 16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A8FE2C-7CE7-464E-82E0-D4EA2C0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无 Skill 组 12 / 16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正例 12 / 12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零额外文件 12 / 12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F5796D2-6F37-4589-9EC7-43710788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2FD"/>
          </a:solidFill>
          <a:ln xmlns:a="http://schemas.openxmlformats.org/drawingml/2006/main" w="9525">
            <a:solidFill>
              <a:srgbClr val="3557B8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B301BE6-0B86-4565-A8B3-D6B83C2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57B8"/>
          </a:solidFill>
          <a:ln xmlns:a="http://schemas.openxmlformats.org/drawingml/2006/main" w="9525">
            <a:solidFill>
              <a:srgbClr val="3557B8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329E35C-A896-455E-BA44-6683121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66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观察增量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FFBB9E-8CF6-451F-98A1-53EB603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57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557B8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3557B8"/>
                </a:solidFill>
                <a:latin typeface="Georgia"/>
                <a:ea typeface="Georgia"/>
                <a:cs typeface="Georgia"/>
              </a:rPr>
              <a:t>+12.5pp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F243005-33CE-4763-B259-51371059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配对 2 胜 / 0 负 / 14 平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181AD1-0087-44CD-BF47-93A9784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多文件最小集合：+1 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关系型负例拒答：+1 题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严格错误数 4 → 2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0137F91-E605-4C98-BE93-A646F4F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D58A27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18BEC90-1E25-4725-84B5-1B9A5081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27"/>
          </a:solidFill>
          <a:ln xmlns:a="http://schemas.openxmlformats.org/drawingml/2006/main" w="9525">
            <a:solidFill>
              <a:srgbClr val="D58A27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6DB8F03-E452-4F9B-9523-069D58C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66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统计边界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AEAEDB-59B0-4930-B0FA-F9CBD36D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57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D58A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D58A27"/>
                </a:solidFill>
                <a:latin typeface="Georgia"/>
                <a:ea typeface="Georgia"/>
                <a:cs typeface="Georgia"/>
              </a:rPr>
              <a:t>p=0.50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5193460-2C09-4BFD-BA53-B74416DF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95% CI [0,+31.3pp]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0C93BD0-DFC6-44DD-9D9A-D9A9F23D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小样本、单模型、单次采样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合成且有意富集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不是自然任务总体效果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6781035C-63B5-482C-B898-9A03233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2625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A1C23"/>
          </a:solidFill>
          <a:ln xmlns:a="http://schemas.openxmlformats.org/drawingml/2006/main" w="9525">
            <a:solidFill>
              <a:srgbClr val="1A1C23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C2BB587-0985-4F8F-9897-61A9511C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结论：Skill 在自身职责场景中有正向工程信号，但尚未达到总体统计显著。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48F9CC1-791E-4A69-9B6A-93C7168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数据：agent-targeted-skill-v1-20260816；全量 16 题与失败均报告。</a:t>
            </a: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7568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3BF1FFB-3CC5-4867-BD75-1486DA0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3557B8"/>
                </a:solidFill>
                <a:latin typeface="微软雅黑"/>
                <a:ea typeface="微软雅黑"/>
                <a:cs typeface="微软雅黑"/>
              </a:rPr>
              <a:t>08 / 可宣称边界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8AE4F6-4C59-4CB2-85F7-A16D80DB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34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结论：检索链已验证，Skill 定向增益获得工程支持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3BF033F-FEC0-4E2C-9AB7-5D518C83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336590-158B-4325-A968-CF8C9819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把证据分成“已验证、工程支持、待确认”三层，不把不同实验拼成综合提升率。</a:t>
            </a: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4193E622-C086-4CD2-BD96-DAE39F7E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9525">
            <a:solidFill>
              <a:srgbClr val="34985F"/>
            </a:solidFill>
            <a:prstDash val="solid"/>
          </a:ln>
        </p:spPr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1D2164D5-4D01-4AA2-8525-F68C4EF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985F"/>
          </a:solidFill>
          <a:ln xmlns:a="http://schemas.openxmlformats.org/drawingml/2006/main" w="9525">
            <a:solidFill>
              <a:srgbClr val="34985F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F6F5CDB-4324-44E5-B5E4-DD09B1EC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已验证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C9A3DF-329D-4ABD-93E2-F7284D67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4985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34985F"/>
                </a:solidFill>
                <a:latin typeface="Georgia"/>
                <a:ea typeface="Georgia"/>
                <a:cs typeface="Georgia"/>
              </a:rPr>
              <a:t>100%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F088913-134E-4F93-B68D-55BE756A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66 个计分检索任务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A8FE2C-7CE7-464E-82E0-D4EA2C08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相比旧检索链 +18.2pp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中位调用 11 → 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文件名反查缺口已补齐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F5796D2-6F37-4589-9EC7-43710788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EF2FD"/>
          </a:solidFill>
          <a:ln xmlns:a="http://schemas.openxmlformats.org/drawingml/2006/main" w="9525">
            <a:solidFill>
              <a:srgbClr val="3557B8"/>
            </a:solidFill>
            <a:prstDash val="solid"/>
          </a:ln>
        </p:spPr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B301BE6-0B86-4565-A8B3-D6B83C2F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383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57B8"/>
          </a:solidFill>
          <a:ln xmlns:a="http://schemas.openxmlformats.org/drawingml/2006/main" w="9525">
            <a:solidFill>
              <a:srgbClr val="3557B8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329E35C-A896-455E-BA44-6683121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66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工程支持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FFBB9E-8CF6-451F-98A1-53EB603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57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3557B8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3557B8"/>
                </a:solidFill>
                <a:latin typeface="Georgia"/>
                <a:ea typeface="Georgia"/>
                <a:cs typeface="Georgia"/>
              </a:rPr>
              <a:t>87.5%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F243005-33CE-4763-B259-51371059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Skill 定向职责场景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8181AD1-0087-44CD-BF47-93A9784C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同一 MCP 对照 +12.5pp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配对 2 胜 / 0 负 / 14 平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正例 12 / 12，零额外文件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0137F91-E605-4C98-BE93-A646F4F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D58A27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B18BEC90-1E25-4725-84B5-1B9A5081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1381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8A27"/>
          </a:solidFill>
          <a:ln xmlns:a="http://schemas.openxmlformats.org/drawingml/2006/main" w="9525">
            <a:solidFill>
              <a:srgbClr val="D58A27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6DB8F03-E452-4F9B-9523-069D58C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669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仍需确认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AEAEDB-59B0-4930-B0FA-F9CBD36D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574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D58A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D58A27"/>
                </a:solidFill>
                <a:latin typeface="Georgia"/>
                <a:ea typeface="Georgia"/>
                <a:cs typeface="Georgia"/>
              </a:rPr>
              <a:t>待确认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5193460-2C09-4BFD-BA53-B74416DF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自然任务总体效果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40C93BD0-DFC6-44DD-9D9A-D9A9F23D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定向实验 CI 含 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V2 正式主终点为负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A1C23"/>
                </a:solidFill>
                <a:latin typeface="微软雅黑"/>
                <a:ea typeface="微软雅黑"/>
                <a:cs typeface="微软雅黑"/>
              </a:rPr>
              <a:t>• 需要真实项目与更大盲测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6781035C-63B5-482C-B898-9A03233F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2625"/>
            <a:ext cx="109537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A1C23"/>
          </a:solidFill>
          <a:ln xmlns:a="http://schemas.openxmlformats.org/drawingml/2006/main" w="9525">
            <a:solidFill>
              <a:srgbClr val="1A1C23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C2BB587-0985-4F8F-9897-61A9511C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下一步：在真实项目中预注册更大盲测，并保留任务成功率与错误文件率两个指标。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48F9CC1-791E-4A69-9B6A-93C7168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证据链：LOCK / manifest / runs / summary / report；完整边界见综合报告。</a:t>
            </a:r>
            <a:r>
              <a:rPr sz="900" b="0">
                <a:solidFill>
                  <a:srgbClr val="687080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7568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2026-08-16T05:49:35.9140000Z</dcterms:created>
  <dcterms:modified xsi:type="dcterms:W3CDTF">2026-08-16T05:49:35.9140000Z</dcterms:modified>
</coreProperties>
</file>